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6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4968" y="969264"/>
            <a:ext cx="3200400" cy="4901184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138160" y="1508760"/>
            <a:ext cx="2322576" cy="320040"/>
          </a:xfrm>
          <a:prstGeom prst="roundRect">
            <a:avLst>
              <a:gd name="adj" fmla="val 48571"/>
            </a:avLst>
          </a:prstGeom>
          <a:solidFill>
            <a:srgbClr val="388C72"/>
          </a:solidFill>
          <a:ln w="9525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247888" y="2340864"/>
            <a:ext cx="2185416" cy="320040"/>
          </a:xfrm>
          <a:prstGeom prst="roundRect">
            <a:avLst>
              <a:gd name="adj" fmla="val 48571"/>
            </a:avLst>
          </a:prstGeom>
          <a:solidFill>
            <a:srgbClr val="567F9E">
              <a:alpha val="91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357616" y="3172968"/>
            <a:ext cx="2048256" cy="320040"/>
          </a:xfrm>
          <a:prstGeom prst="roundRect">
            <a:avLst>
              <a:gd name="adj" fmla="val 48571"/>
            </a:avLst>
          </a:prstGeom>
          <a:solidFill>
            <a:srgbClr val="8976A0">
              <a:alpha val="82000"/>
            </a:srgbClr>
          </a:solidFill>
          <a:ln w="9525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67344" y="4005072"/>
            <a:ext cx="1911096" cy="320040"/>
          </a:xfrm>
          <a:prstGeom prst="roundRect">
            <a:avLst>
              <a:gd name="adj" fmla="val 48571"/>
            </a:avLst>
          </a:prstGeom>
          <a:solidFill>
            <a:srgbClr val="BA754E">
              <a:alpha val="73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577072" y="4837176"/>
            <a:ext cx="1773936" cy="320040"/>
          </a:xfrm>
          <a:prstGeom prst="roundRect">
            <a:avLst>
              <a:gd name="adj" fmla="val 48571"/>
            </a:avLst>
          </a:prstGeom>
          <a:solidFill>
            <a:srgbClr val="839658">
              <a:alpha val="64000"/>
            </a:srgbClr>
          </a:solidFill>
          <a:ln w="9525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04088" y="786384"/>
            <a:ext cx="6172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0" b="1" kern="0" spc="-115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FitSlot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722376" y="179222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 tema alle User Story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713232" y="2596896"/>
            <a:ext cx="5257800" cy="0"/>
          </a:xfrm>
          <a:prstGeom prst="line">
            <a:avLst/>
          </a:prstGeom>
          <a:noFill/>
          <a:ln w="1524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LadyTheLemons!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40664" y="3630168"/>
            <a:ext cx="6611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Anna Maddaloni  ·  298893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0664" y="4197096"/>
            <a:ext cx="6611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Matteo Tessari  ·  298905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" y="4764024"/>
            <a:ext cx="6611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Giuseppe Maglione  ·  298975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" y="5330952"/>
            <a:ext cx="6611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Marinanza  ·  299197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prodotto, in 5 temi.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1EEE6"/>
          </a:solidFill>
          <a:ln w="19050">
            <a:solidFill>
              <a:srgbClr val="388C7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30936"/>
            <a:ext cx="10863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3320" dirty="0"/>
          </a:p>
        </p:txBody>
      </p:sp>
      <p:sp>
        <p:nvSpPr>
          <p:cNvPr id="3" name="Text 1"/>
          <p:cNvSpPr/>
          <p:nvPr/>
        </p:nvSpPr>
        <p:spPr>
          <a:xfrm>
            <a:off x="713232" y="13350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Epiche</a:t>
            </a:r>
            <a:endParaRPr lang="en-US" sz="1770" dirty="0"/>
          </a:p>
        </p:txBody>
      </p:sp>
      <p:sp>
        <p:nvSpPr>
          <p:cNvPr id="4" name="Shape 2">
            <a:hlinkClick r:id="rId3" action="ppaction://hlinksldjump" tooltip="Esplora le User Story di E1.1"/>
          </p:cNvPr>
          <p:cNvSpPr/>
          <p:nvPr/>
        </p:nvSpPr>
        <p:spPr>
          <a:xfrm>
            <a:off x="694944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5256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388C72">
              <a:alpha val="14000"/>
            </a:srgbClr>
          </a:solidFill>
          <a:ln w="9525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78408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905256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e anagrafica iscritti</a:t>
            </a:r>
            <a:endParaRPr lang="en-US" sz="1860" dirty="0"/>
          </a:p>
        </p:txBody>
      </p:sp>
      <p:sp>
        <p:nvSpPr>
          <p:cNvPr id="8" name="Text 6"/>
          <p:cNvSpPr/>
          <p:nvPr/>
        </p:nvSpPr>
        <p:spPr>
          <a:xfrm>
            <a:off x="905256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Creare, correggere e cercare gli iscritti.</a:t>
            </a:r>
            <a:endParaRPr lang="en-US" sz="1410" dirty="0"/>
          </a:p>
        </p:txBody>
      </p:sp>
      <p:sp>
        <p:nvSpPr>
          <p:cNvPr id="9" name="Shape 7"/>
          <p:cNvSpPr/>
          <p:nvPr/>
        </p:nvSpPr>
        <p:spPr>
          <a:xfrm>
            <a:off x="905256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05256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iscrizioni ancora su schede cartacee.</a:t>
            </a:r>
            <a:endParaRPr lang="en-US" sz="1180" dirty="0"/>
          </a:p>
        </p:txBody>
      </p:sp>
      <p:sp>
        <p:nvSpPr>
          <p:cNvPr id="11" name="Shape 9">
            <a:hlinkClick r:id="rId3" action="ppaction://hlinksldjump" tooltip="Registrazione e anagrafica iscritti"/>
          </p:cNvPr>
          <p:cNvSpPr/>
          <p:nvPr/>
        </p:nvSpPr>
        <p:spPr>
          <a:xfrm>
            <a:off x="694944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Shape 10">
            <a:hlinkClick r:id="rId3" action="ppaction://hlinksldjump" tooltip="Esplora le User Story di E1.2"/>
          </p:cNvPr>
          <p:cNvSpPr/>
          <p:nvPr/>
        </p:nvSpPr>
        <p:spPr>
          <a:xfrm>
            <a:off x="4376928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87240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388C72">
              <a:alpha val="14000"/>
            </a:srgbClr>
          </a:solidFill>
          <a:ln w="9525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60392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87240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 e ruoli</a:t>
            </a:r>
            <a:endParaRPr lang="en-US" sz="1860" dirty="0"/>
          </a:p>
        </p:txBody>
      </p:sp>
      <p:sp>
        <p:nvSpPr>
          <p:cNvPr id="16" name="Text 14"/>
          <p:cNvSpPr/>
          <p:nvPr/>
        </p:nvSpPr>
        <p:spPr>
          <a:xfrm>
            <a:off x="4587240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funzioni per ruolo e utenti multi-ruolo.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4587240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87240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del PO: anche iscritti e istruttori accedono al sistema.</a:t>
            </a:r>
            <a:endParaRPr lang="en-US" sz="1180" dirty="0"/>
          </a:p>
        </p:txBody>
      </p:sp>
      <p:sp>
        <p:nvSpPr>
          <p:cNvPr id="19" name="Shape 17">
            <a:hlinkClick r:id="rId3" action="ppaction://hlinksldjump" tooltip="Accesso e ruoli"/>
          </p:cNvPr>
          <p:cNvSpPr/>
          <p:nvPr/>
        </p:nvSpPr>
        <p:spPr>
          <a:xfrm>
            <a:off x="4376928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4" action="ppaction://hlinksldjump" tooltip="Esplora le User Story di E1.3"/>
          </p:cNvPr>
          <p:cNvSpPr/>
          <p:nvPr/>
        </p:nvSpPr>
        <p:spPr>
          <a:xfrm>
            <a:off x="8058912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69224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388C72">
              <a:alpha val="14000"/>
            </a:srgbClr>
          </a:solidFill>
          <a:ln w="9525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42376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E1.3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269224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Certificato medico</a:t>
            </a:r>
            <a:endParaRPr lang="en-US" sz="1860" dirty="0"/>
          </a:p>
        </p:txBody>
      </p:sp>
      <p:sp>
        <p:nvSpPr>
          <p:cNvPr id="24" name="Text 22"/>
          <p:cNvSpPr/>
          <p:nvPr/>
        </p:nvSpPr>
        <p:spPr>
          <a:xfrm>
            <a:off x="8269224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Registrare, caricare e validare i certificati; verificare scadenze, blocchi e privacy.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8269224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69224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i certificati scaduti devono bloccare gli accessi.</a:t>
            </a:r>
            <a:endParaRPr lang="en-US" sz="1180" dirty="0"/>
          </a:p>
        </p:txBody>
      </p:sp>
      <p:sp>
        <p:nvSpPr>
          <p:cNvPr id="27" name="Shape 25">
            <a:hlinkClick r:id="rId4" action="ppaction://hlinksldjump" tooltip="Certificato medico"/>
          </p:cNvPr>
          <p:cNvSpPr/>
          <p:nvPr/>
        </p:nvSpPr>
        <p:spPr>
          <a:xfrm>
            <a:off x="8058912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1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E1.1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e anagrafica iscritti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UE-01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iscritto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crea la scheda dell’iscritto con i dati necessari per gestire attività e abbonamento.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UE-02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Ricerca iscritto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Ricerca rapida per nome, cognome o codice durante le operazioni al banco.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UE-50</a:t>
            </a:r>
            <a:endParaRPr lang="en-US" sz="1025" dirty="0"/>
          </a:p>
        </p:txBody>
      </p:sp>
      <p:sp>
        <p:nvSpPr>
          <p:cNvPr id="17" name="Text 15"/>
          <p:cNvSpPr/>
          <p:nvPr/>
        </p:nvSpPr>
        <p:spPr>
          <a:xfrm>
            <a:off x="1307592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autonoma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307592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nuovo utente inserisce autonomamente i propri dati per registrarsi senza passare dal banco.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E1.1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Registrazione e anagrafica iscritti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UE-55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Correggere i dati di un iscritto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corregge errori nell’anagrafica per mantenere affidabili i dati degli iscritti.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UE-56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Aggiornare i miei recapiti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aggiorna i propri recapiti per ricevere comunicazioni corrette.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E1.2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 e ruoli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4" name="Text 32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UE-03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Accedere con le mie credenziali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 con credenziali personali per identificare l’utente e proteggere il suo account.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UE-04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solo le funzioni del mio ruolo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account utilizza solo le funzioni consentite dai ruoli assegnati, anche se ne ha più di uno.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022336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141208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UE-57</a:t>
            </a:r>
            <a:endParaRPr lang="en-US" sz="1025" dirty="0"/>
          </a:p>
        </p:txBody>
      </p:sp>
      <p:sp>
        <p:nvSpPr>
          <p:cNvPr id="43" name="Text 41"/>
          <p:cNvSpPr/>
          <p:nvPr/>
        </p:nvSpPr>
        <p:spPr>
          <a:xfrm>
            <a:off x="8634984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Modificare le mie credenziali</a:t>
            </a:r>
            <a:endParaRPr lang="en-US" sz="1240" dirty="0"/>
          </a:p>
        </p:txBody>
      </p:sp>
      <p:sp>
        <p:nvSpPr>
          <p:cNvPr id="44" name="Text 42"/>
          <p:cNvSpPr/>
          <p:nvPr/>
        </p:nvSpPr>
        <p:spPr>
          <a:xfrm>
            <a:off x="8634984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cambia la password per mantenere sicuro il proprio account.</a:t>
            </a:r>
            <a:endParaRPr lang="en-US" sz="1060" dirty="0"/>
          </a:p>
        </p:txBody>
      </p:sp>
    </p:spTree>
  </p:cSld>
  <p:clrMapOvr>
    <a:masterClrMapping/>
  </p:clrMapOvr>
  <p:transition spd="med"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2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E1.3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Certificato medico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UE-05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o aggiornare un certificato medico cartaceo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controlla il certificato cartaceo, registra i dati e ne aggiorna la scadenza.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UE-06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Proteggere i dati del certificato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documento sanitario è consultabile solo dall’iscritto e dal personale autorizzato.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UE-07</a:t>
            </a:r>
            <a:endParaRPr lang="en-US" sz="1025" dirty="0"/>
          </a:p>
        </p:txBody>
      </p:sp>
      <p:sp>
        <p:nvSpPr>
          <p:cNvPr id="17" name="Text 15"/>
          <p:cNvSpPr/>
          <p:nvPr/>
        </p:nvSpPr>
        <p:spPr>
          <a:xfrm>
            <a:off x="1307592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Bloccare le prenotazioni senza certificato valido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307592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Nessuna prenotazione se il certificato è assente, scaduto o non ancora verificato.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E1.3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Certificato medico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UE-51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Caricamento autonomo del certificato medico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carica un nuovo certificato medico senza consegnarlo fisicamente.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UE-52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Validare un certificato caricato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controlla e valida il documento caricato prima di consentire l’accesso.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E1.3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Certificato medico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UE-53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lo stato del mio certificato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vede lo stato del certificato e la data entro cui è valido.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UE-54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Avvisi di scadenza del certificato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Promemoria del certificato a 6 mesi, 1 mese, 7, 4 e 1 giorno dalla scadenza.</a:t>
            </a:r>
            <a:endParaRPr lang="en-US" sz="106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prodotto, in 5 temi.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1EEE6"/>
          </a:solidFill>
          <a:ln w="19050">
            <a:solidFill>
              <a:srgbClr val="567F9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30936"/>
            <a:ext cx="10863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3320" dirty="0"/>
          </a:p>
        </p:txBody>
      </p:sp>
      <p:sp>
        <p:nvSpPr>
          <p:cNvPr id="3" name="Text 1"/>
          <p:cNvSpPr/>
          <p:nvPr/>
        </p:nvSpPr>
        <p:spPr>
          <a:xfrm>
            <a:off x="713232" y="13350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Epiche</a:t>
            </a:r>
            <a:endParaRPr lang="en-US" sz="1770" dirty="0"/>
          </a:p>
        </p:txBody>
      </p:sp>
      <p:sp>
        <p:nvSpPr>
          <p:cNvPr id="4" name="Shape 2">
            <a:hlinkClick r:id="rId3" action="ppaction://hlinksldjump" tooltip="Esplora le User Story di E2.1"/>
          </p:cNvPr>
          <p:cNvSpPr/>
          <p:nvPr/>
        </p:nvSpPr>
        <p:spPr>
          <a:xfrm>
            <a:off x="694944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5256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567F9E">
              <a:alpha val="14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78408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905256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Tipi di abbonamento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05256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listino, prezzi, servizi inclusi e fasce orarie.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905256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05256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diversi abbonamenti danno accessi differenti.</a:t>
            </a:r>
            <a:endParaRPr lang="en-US" sz="1020" dirty="0"/>
          </a:p>
        </p:txBody>
      </p:sp>
      <p:sp>
        <p:nvSpPr>
          <p:cNvPr id="11" name="Shape 9">
            <a:hlinkClick r:id="rId3" action="ppaction://hlinksldjump" tooltip="Tipi di abbonamento"/>
          </p:cNvPr>
          <p:cNvSpPr/>
          <p:nvPr/>
        </p:nvSpPr>
        <p:spPr>
          <a:xfrm>
            <a:off x="694944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hlinkClick r:id="rId3" action="ppaction://hlinksldjump" tooltip="Esplora le User Story di E2.2"/>
          </p:cNvPr>
          <p:cNvSpPr/>
          <p:nvPr/>
        </p:nvSpPr>
        <p:spPr>
          <a:xfrm>
            <a:off x="4373880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84192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567F9E">
              <a:alpha val="14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57344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84192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Assegnazione e consultazione abbonamenti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584192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Vendere in reception, consultare lo stato dell’abbonamento e gestire i rinnovi.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4584192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84192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reception e iscritti devono controllare gli abbonamenti.</a:t>
            </a:r>
            <a:endParaRPr lang="en-US" sz="1020" dirty="0"/>
          </a:p>
        </p:txBody>
      </p:sp>
      <p:sp>
        <p:nvSpPr>
          <p:cNvPr id="19" name="Shape 17">
            <a:hlinkClick r:id="rId3" action="ppaction://hlinksldjump" tooltip="Assegnazione e consultazione abbonamenti"/>
          </p:cNvPr>
          <p:cNvSpPr/>
          <p:nvPr/>
        </p:nvSpPr>
        <p:spPr>
          <a:xfrm>
            <a:off x="4373880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3" action="ppaction://hlinksldjump" tooltip="Esplora le User Story di E2.3"/>
          </p:cNvPr>
          <p:cNvSpPr/>
          <p:nvPr/>
        </p:nvSpPr>
        <p:spPr>
          <a:xfrm>
            <a:off x="8052816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63128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567F9E">
              <a:alpha val="14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36280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E2.3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263128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Crediti (ingressi)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8263128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Riservare, consumare, restituire e perdere crediti secondo le regole del piano.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8263128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63128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pacchetti a ingressi e penale per cancellazione tardiva.</a:t>
            </a:r>
            <a:endParaRPr lang="en-US" sz="1020" dirty="0"/>
          </a:p>
        </p:txBody>
      </p:sp>
      <p:sp>
        <p:nvSpPr>
          <p:cNvPr id="27" name="Shape 25">
            <a:hlinkClick r:id="rId3" action="ppaction://hlinksldjump" tooltip="Crediti (ingressi)"/>
          </p:cNvPr>
          <p:cNvSpPr/>
          <p:nvPr/>
        </p:nvSpPr>
        <p:spPr>
          <a:xfrm>
            <a:off x="8052816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>
            <a:hlinkClick r:id="rId4" action="ppaction://hlinksldjump" tooltip="Esplora le User Story di E2.4"/>
          </p:cNvPr>
          <p:cNvSpPr/>
          <p:nvPr/>
        </p:nvSpPr>
        <p:spPr>
          <a:xfrm>
            <a:off x="2534412" y="416052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2744724" y="431596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567F9E">
              <a:alpha val="14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817876" y="434797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E2.4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2744724" y="464515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Pagamenti e ricevute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2744724" y="516636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pagamenti in reception e nel sistema, con emissione delle ricevute.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2744724" y="575157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744724" y="585216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e Q&amp;A del PO: registrare i pagamenti; ricevuta sempre.</a:t>
            </a:r>
            <a:endParaRPr lang="en-US" sz="1020" dirty="0"/>
          </a:p>
        </p:txBody>
      </p:sp>
      <p:sp>
        <p:nvSpPr>
          <p:cNvPr id="35" name="Shape 33">
            <a:hlinkClick r:id="rId4" action="ppaction://hlinksldjump" tooltip="Pagamenti e ricevute"/>
          </p:cNvPr>
          <p:cNvSpPr/>
          <p:nvPr/>
        </p:nvSpPr>
        <p:spPr>
          <a:xfrm>
            <a:off x="2534412" y="416052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>
            <a:hlinkClick r:id="rId4" action="ppaction://hlinksldjump" tooltip="Esplora le User Story di E2.5"/>
          </p:cNvPr>
          <p:cNvSpPr/>
          <p:nvPr/>
        </p:nvSpPr>
        <p:spPr>
          <a:xfrm>
            <a:off x="6213348" y="416052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6423660" y="431596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567F9E">
              <a:alpha val="14000"/>
            </a:srgbClr>
          </a:solidFill>
          <a:ln w="9525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496812" y="434797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E2.5</a:t>
            </a:r>
            <a:endParaRPr lang="en-US" sz="1170" dirty="0"/>
          </a:p>
        </p:txBody>
      </p:sp>
      <p:sp>
        <p:nvSpPr>
          <p:cNvPr id="39" name="Text 37"/>
          <p:cNvSpPr/>
          <p:nvPr/>
        </p:nvSpPr>
        <p:spPr>
          <a:xfrm>
            <a:off x="6423660" y="464515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Congelamento per infortunio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6423660" y="516636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Sospendere l’abbonamento, verificare i 30 giorni e gestire proroghe e prenotazioni.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6423660" y="575157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23660" y="585216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congelamento per infortunio con certificato.</a:t>
            </a:r>
            <a:endParaRPr lang="en-US" sz="1020" dirty="0"/>
          </a:p>
        </p:txBody>
      </p:sp>
      <p:sp>
        <p:nvSpPr>
          <p:cNvPr id="43" name="Shape 41">
            <a:hlinkClick r:id="rId4" action="ppaction://hlinksldjump" tooltip="Congelamento per infortunio"/>
          </p:cNvPr>
          <p:cNvSpPr/>
          <p:nvPr/>
        </p:nvSpPr>
        <p:spPr>
          <a:xfrm>
            <a:off x="6213348" y="416052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 dir="in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1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E2.1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Tipi di abbonamento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832104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UE-08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i tipi di abbonamento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20010"/>
            <a:ext cx="274015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gestore configura prezzi, durate, servizi inclusi e condizioni dei diversi abbonamenti.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250692"/>
            <a:ext cx="3480816" cy="832104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3878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UE-59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346704"/>
            <a:ext cx="274015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Abbonamento ridotto per studenti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3729838"/>
            <a:ext cx="274015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studenti ottengono il 20% di sconto sui pacchetti, </a:t>
            </a:r>
            <a:r>
              <a:rPr lang="en-US" sz="1060" dirty="0" err="1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utilizzabili</a:t>
            </a: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solo per attività mattutine.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256532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32104" y="4316882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E2.2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1444752" y="4300423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Assegnazione e consultazione abbonamenti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" y="4722876"/>
            <a:ext cx="3480816" cy="832104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13816" y="486003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UE-10</a:t>
            </a:r>
            <a:endParaRPr lang="en-US" sz="1025" dirty="0"/>
          </a:p>
        </p:txBody>
      </p:sp>
      <p:sp>
        <p:nvSpPr>
          <p:cNvPr id="20" name="Text 18"/>
          <p:cNvSpPr/>
          <p:nvPr/>
        </p:nvSpPr>
        <p:spPr>
          <a:xfrm>
            <a:off x="1307592" y="4818888"/>
            <a:ext cx="274015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Assegnare un abbonamento in reception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1307592" y="5202022"/>
            <a:ext cx="274015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Dopo l’acquisto, la reception associa all’iscritto il piano e i servizi previsti.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94944" y="5632704"/>
            <a:ext cx="3480816" cy="832104"/>
          </a:xfrm>
          <a:prstGeom prst="roundRect">
            <a:avLst>
              <a:gd name="adj" fmla="val 12088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13816" y="576986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UE-12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1307592" y="5728716"/>
            <a:ext cx="2740152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Visualizzare l'abbonamento attivo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307592" y="6111850"/>
            <a:ext cx="274015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controlla servizi inclusi, scadenza e, per i pacchetti, ingressi residui.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E2.3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Crediti (ingressi)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UE-18</a:t>
            </a:r>
            <a:endParaRPr lang="en-US" sz="1025" dirty="0"/>
          </a:p>
        </p:txBody>
      </p:sp>
      <p:sp>
        <p:nvSpPr>
          <p:cNvPr id="31" name="Text 29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Riservare token alla prenotazione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prenotazione confermata riserva un credito; la semplice lista d’attesa non lo blocca.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UE-24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Restituire un credito dopo una cancellazione tempestiva.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cancellazione con almeno 2 ore di anticipo libera il credito riservato.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358640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4477512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UE-30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4971288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ingresso per ogni attività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4971288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attività effettivamente svolta consuma un solo credito del pacchetto.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E2.3</a:t>
            </a:r>
            <a:endParaRPr lang="en-US" sz="1190" dirty="0"/>
          </a:p>
        </p:txBody>
      </p:sp>
      <p:sp>
        <p:nvSpPr>
          <p:cNvPr id="43" name="Text 41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Crediti (ingressi)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UE-33</a:t>
            </a:r>
            <a:endParaRPr lang="en-US" sz="1025" dirty="0"/>
          </a:p>
        </p:txBody>
      </p:sp>
      <p:sp>
        <p:nvSpPr>
          <p:cNvPr id="46" name="Text 44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Perdere l'ingresso se cancello tardi o non mi presento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un pacchetto a ingressi, cancellazione tardiva o no-show fanno perdere un credito.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UE-43</a:t>
            </a:r>
            <a:endParaRPr lang="en-US" sz="1025" dirty="0"/>
          </a:p>
        </p:txBody>
      </p:sp>
      <p:sp>
        <p:nvSpPr>
          <p:cNvPr id="50" name="Text 48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Riavere l'ingresso se la lezione salta</a:t>
            </a:r>
            <a:endParaRPr lang="en-US" sz="1240" dirty="0"/>
          </a:p>
        </p:txBody>
      </p:sp>
      <p:sp>
        <p:nvSpPr>
          <p:cNvPr id="51" name="Text 49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il centro annulla una lezione, il credito prenotato torna disponibile senza penalità.</a:t>
            </a:r>
            <a:endParaRPr lang="en-US" sz="1060" dirty="0"/>
          </a:p>
        </p:txBody>
      </p:sp>
    </p:spTree>
  </p:cSld>
  <p:clrMapOvr>
    <a:masterClrMapping/>
  </p:clrMapOvr>
  <p:transition spd="med">
    <p:zoom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2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5312664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E2.4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4407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Pagamenti e ricevute</a:t>
            </a:r>
            <a:endParaRPr lang="en-US" sz="139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5312664" cy="1322832"/>
          </a:xfrm>
          <a:prstGeom prst="roundRect">
            <a:avLst>
              <a:gd name="adj" fmla="val 7604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UE-09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1417320" y="243687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un pagamento in reception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871216"/>
            <a:ext cx="446227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registra il pagamento associandolo all’acquisto, per tracciare correttamente gli incassi.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94944" y="3741420"/>
            <a:ext cx="5312664" cy="1322832"/>
          </a:xfrm>
          <a:prstGeom prst="roundRect">
            <a:avLst>
              <a:gd name="adj" fmla="val 7604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87858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UE-11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417320" y="3837432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Emettere la ricevuta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271772"/>
            <a:ext cx="446227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pagamento riuscito produce una ricevuta consultabile come prova del versamento.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694944" y="5141976"/>
            <a:ext cx="5312664" cy="1322832"/>
          </a:xfrm>
          <a:prstGeom prst="roundRect">
            <a:avLst>
              <a:gd name="adj" fmla="val 7604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527913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UE-58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417320" y="5237988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Pagare online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5672328"/>
            <a:ext cx="446227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acquista e paga un abbonamento dal sistema senza passare dalla reception.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190488" y="1874520"/>
            <a:ext cx="5312664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327648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E2.5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6940296" y="1918411"/>
            <a:ext cx="44074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Congelamento per infortunio</a:t>
            </a:r>
            <a:endParaRPr lang="en-US" sz="1390" dirty="0"/>
          </a:p>
        </p:txBody>
      </p:sp>
      <p:sp>
        <p:nvSpPr>
          <p:cNvPr id="22" name="Shape 20"/>
          <p:cNvSpPr/>
          <p:nvPr/>
        </p:nvSpPr>
        <p:spPr>
          <a:xfrm>
            <a:off x="6190488" y="2340864"/>
            <a:ext cx="5312664" cy="140817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309360" y="247802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UE-60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6912864" y="243687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Congelare un abbonamento per infortunio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12864" y="2871216"/>
            <a:ext cx="4462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approva la sospensione per infortunio: fino a 30 giorni cumulabili per abbonamento.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6190488" y="3826764"/>
            <a:ext cx="5312664" cy="140817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309360" y="396392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UE-61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912864" y="3922776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le prenotazioni durante il congelamento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12864" y="4357116"/>
            <a:ext cx="44622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prenotazioni che ricadono nel congelamento vengono annullate senza penali.</a:t>
            </a:r>
            <a:endParaRPr lang="en-US" sz="126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prodotto, in 5 temi.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1EEE6"/>
          </a:solidFill>
          <a:ln w="19050">
            <a:solidFill>
              <a:srgbClr val="8976A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30936"/>
            <a:ext cx="10863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3320" dirty="0"/>
          </a:p>
        </p:txBody>
      </p:sp>
      <p:sp>
        <p:nvSpPr>
          <p:cNvPr id="3" name="Text 1"/>
          <p:cNvSpPr/>
          <p:nvPr/>
        </p:nvSpPr>
        <p:spPr>
          <a:xfrm>
            <a:off x="713232" y="13350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Epiche</a:t>
            </a:r>
            <a:endParaRPr lang="en-US" sz="1770" dirty="0"/>
          </a:p>
        </p:txBody>
      </p:sp>
      <p:sp>
        <p:nvSpPr>
          <p:cNvPr id="4" name="Shape 2">
            <a:hlinkClick r:id="rId3" action="ppaction://hlinksldjump" tooltip="Esplora le User Story di E3.1"/>
          </p:cNvPr>
          <p:cNvSpPr/>
          <p:nvPr/>
        </p:nvSpPr>
        <p:spPr>
          <a:xfrm>
            <a:off x="694944" y="1847088"/>
            <a:ext cx="526237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5256" y="2002536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976A0">
              <a:alpha val="14000"/>
            </a:srgbClr>
          </a:solidFill>
          <a:ln w="9525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78408" y="2034540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905256" y="2331720"/>
            <a:ext cx="48417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 e strutture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905256" y="2852928"/>
            <a:ext cx="48417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Definire sale, capienze, corsi ricorrenti e soglia minima di partecipanti.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905256" y="3438144"/>
            <a:ext cx="484174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05256" y="3538728"/>
            <a:ext cx="48417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palinsesto, posti limitati e corsi poco frequentati.</a:t>
            </a:r>
            <a:endParaRPr lang="en-US" sz="1080" dirty="0"/>
          </a:p>
        </p:txBody>
      </p:sp>
      <p:sp>
        <p:nvSpPr>
          <p:cNvPr id="11" name="Shape 9">
            <a:hlinkClick r:id="rId3" action="ppaction://hlinksldjump" tooltip="Palinsesto e strutture"/>
          </p:cNvPr>
          <p:cNvSpPr/>
          <p:nvPr/>
        </p:nvSpPr>
        <p:spPr>
          <a:xfrm>
            <a:off x="694944" y="1847088"/>
            <a:ext cx="5262372" cy="2084832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hlinkClick r:id="rId3" action="ppaction://hlinksldjump" tooltip="Esplora le User Story di E3.2"/>
          </p:cNvPr>
          <p:cNvSpPr/>
          <p:nvPr/>
        </p:nvSpPr>
        <p:spPr>
          <a:xfrm>
            <a:off x="6231636" y="1847088"/>
            <a:ext cx="526237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441948" y="2002536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976A0">
              <a:alpha val="14000"/>
            </a:srgbClr>
          </a:solidFill>
          <a:ln w="9525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515100" y="2034540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441948" y="2331720"/>
            <a:ext cx="48417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Prenotazioni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6441948" y="2852928"/>
            <a:ext cx="48417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Prenotare, cancellare, consultare e impedire sovrapposizioni tra attività.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441948" y="3438144"/>
            <a:ext cx="484174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41948" y="3538728"/>
            <a:ext cx="48417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prenotazioni su carta e conflitti sui posti disponibili.</a:t>
            </a:r>
            <a:endParaRPr lang="en-US" sz="1080" dirty="0"/>
          </a:p>
        </p:txBody>
      </p:sp>
      <p:sp>
        <p:nvSpPr>
          <p:cNvPr id="19" name="Shape 17">
            <a:hlinkClick r:id="rId3" action="ppaction://hlinksldjump" tooltip="Prenotazioni"/>
          </p:cNvPr>
          <p:cNvSpPr/>
          <p:nvPr/>
        </p:nvSpPr>
        <p:spPr>
          <a:xfrm>
            <a:off x="6231636" y="1847088"/>
            <a:ext cx="5262372" cy="2084832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4" action="ppaction://hlinksldjump" tooltip="Esplora le User Story di E3.3"/>
          </p:cNvPr>
          <p:cNvSpPr/>
          <p:nvPr/>
        </p:nvSpPr>
        <p:spPr>
          <a:xfrm>
            <a:off x="694944" y="4142232"/>
            <a:ext cx="526237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05256" y="4297680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976A0">
              <a:alpha val="14000"/>
            </a:srgbClr>
          </a:solidFill>
          <a:ln w="9525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78408" y="4329684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E3.3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905256" y="4626864"/>
            <a:ext cx="48417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d'attesa e subentri</a:t>
            </a:r>
            <a:endParaRPr lang="en-US" sz="1730" dirty="0"/>
          </a:p>
        </p:txBody>
      </p:sp>
      <p:sp>
        <p:nvSpPr>
          <p:cNvPr id="24" name="Text 22"/>
          <p:cNvSpPr/>
          <p:nvPr/>
        </p:nvSpPr>
        <p:spPr>
          <a:xfrm>
            <a:off x="905256" y="5148072"/>
            <a:ext cx="48417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code, offerte di subentro a scadenza e verifica dell’idoneità.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905256" y="5733288"/>
            <a:ext cx="484174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05256" y="5833872"/>
            <a:ext cx="48417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e Q&amp;A del PO: lista d’attesa e subentro con accettazione.</a:t>
            </a:r>
            <a:endParaRPr lang="en-US" sz="1080" dirty="0"/>
          </a:p>
        </p:txBody>
      </p:sp>
      <p:sp>
        <p:nvSpPr>
          <p:cNvPr id="27" name="Shape 25">
            <a:hlinkClick r:id="rId4" action="ppaction://hlinksldjump" tooltip="Liste d'attesa e subentri"/>
          </p:cNvPr>
          <p:cNvSpPr/>
          <p:nvPr/>
        </p:nvSpPr>
        <p:spPr>
          <a:xfrm>
            <a:off x="694944" y="4142232"/>
            <a:ext cx="5262372" cy="2084832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>
            <a:hlinkClick r:id="rId4" action="ppaction://hlinksldjump" tooltip="Esplora le User Story di E3.4"/>
          </p:cNvPr>
          <p:cNvSpPr/>
          <p:nvPr/>
        </p:nvSpPr>
        <p:spPr>
          <a:xfrm>
            <a:off x="6231636" y="4142232"/>
            <a:ext cx="526237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441948" y="4297680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976A0">
              <a:alpha val="14000"/>
            </a:srgbClr>
          </a:solidFill>
          <a:ln w="9525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515100" y="4329684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E3.4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6441948" y="4626864"/>
            <a:ext cx="48417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Priorità e penalità</a:t>
            </a:r>
            <a:endParaRPr lang="en-US" sz="1730" dirty="0"/>
          </a:p>
        </p:txBody>
      </p:sp>
      <p:sp>
        <p:nvSpPr>
          <p:cNvPr id="32" name="Text 30"/>
          <p:cNvSpPr/>
          <p:nvPr/>
        </p:nvSpPr>
        <p:spPr>
          <a:xfrm>
            <a:off x="6441948" y="5148072"/>
            <a:ext cx="48417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il bonus di priorità e il blocco temporaneo delle nuove prenotazioni.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6441948" y="5733288"/>
            <a:ext cx="484174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441948" y="5833872"/>
            <a:ext cx="48417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del PO e scelte del gruppo: esclusioni ripetute e penalità.</a:t>
            </a:r>
            <a:endParaRPr lang="en-US" sz="1080" dirty="0"/>
          </a:p>
        </p:txBody>
      </p:sp>
      <p:sp>
        <p:nvSpPr>
          <p:cNvPr id="35" name="Shape 33">
            <a:hlinkClick r:id="rId4" action="ppaction://hlinksldjump" tooltip="Priorità e penalità"/>
          </p:cNvPr>
          <p:cNvSpPr/>
          <p:nvPr/>
        </p:nvSpPr>
        <p:spPr>
          <a:xfrm>
            <a:off x="6231636" y="4142232"/>
            <a:ext cx="5262372" cy="2084832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1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E3.1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 e strutture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UE-13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Definire strutture e capienze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gestore imposta sale, piscina e sala pesi con orari e capienze massime.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UE-16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Creare un corso ricorrente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programma un corso settimanale indicando sala, orario, durata, minimo iscritti e posti massimi.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UE-17</a:t>
            </a:r>
            <a:endParaRPr lang="en-US" sz="1025" dirty="0"/>
          </a:p>
        </p:txBody>
      </p:sp>
      <p:sp>
        <p:nvSpPr>
          <p:cNvPr id="17" name="Text 15"/>
          <p:cNvSpPr/>
          <p:nvPr/>
        </p:nvSpPr>
        <p:spPr>
          <a:xfrm>
            <a:off x="1307592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la scaletta con i posti liberi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307592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consulta il calendario delle lezioni e vede quanti posti restano disponibili.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E3.2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Prenotazioni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UE-19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Prenotare un posto in un corso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conferma il proprio posto in una lezione che ha ancora disponibilità.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UE-20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Evitare prenotazioni sovrapposte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evita due prenotazioni confermate con orari sovrapposti.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4358640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477512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UE-21</a:t>
            </a:r>
            <a:endParaRPr lang="en-US" sz="1025" dirty="0"/>
          </a:p>
        </p:txBody>
      </p:sp>
      <p:sp>
        <p:nvSpPr>
          <p:cNvPr id="32" name="Text 30"/>
          <p:cNvSpPr/>
          <p:nvPr/>
        </p:nvSpPr>
        <p:spPr>
          <a:xfrm>
            <a:off x="4971288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Prenotare sala pesi o piscina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4971288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sala pesi si prenota per 120 minuti e la piscina per 60, nel rispetto dei posti disponibili.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E3.2</a:t>
            </a:r>
            <a:endParaRPr lang="en-US" sz="1190" dirty="0"/>
          </a:p>
        </p:txBody>
      </p:sp>
      <p:sp>
        <p:nvSpPr>
          <p:cNvPr id="36" name="Text 34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Prenotazioni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UE-22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le mie prenotazioni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consulta le attività future e distingue prenotazioni confermate e liste d’attesa.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UE-23</a:t>
            </a:r>
            <a:endParaRPr lang="en-US" sz="1025" dirty="0"/>
          </a:p>
        </p:txBody>
      </p:sp>
      <p:sp>
        <p:nvSpPr>
          <p:cNvPr id="43" name="Text 41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Cancellare una prenotazione</a:t>
            </a:r>
            <a:endParaRPr lang="en-US" sz="1240" dirty="0"/>
          </a:p>
        </p:txBody>
      </p:sp>
      <p:sp>
        <p:nvSpPr>
          <p:cNvPr id="44" name="Text 42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L’iscritto libera un posto prenotato quando non può più partecipare.</a:t>
            </a:r>
            <a:endParaRPr lang="en-US" sz="1060" dirty="0"/>
          </a:p>
        </p:txBody>
      </p:sp>
    </p:spTree>
  </p:cSld>
  <p:clrMapOvr>
    <a:masterClrMapping/>
  </p:clrMapOvr>
  <p:transition spd="med"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2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E3.3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d'attesa e subentri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UE-35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Mettermi in lista d'attesa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una lezione è piena, l’iscritto può richiedere un posto in lista d’attesa.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UE-36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Offrire il posto solo a chi è idoneo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 di proporre un posto si ricontrollano certificato, abbonamento, crediti e altri vincoli.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UE-37</a:t>
            </a:r>
            <a:endParaRPr lang="en-US" sz="1025" dirty="0"/>
          </a:p>
        </p:txBody>
      </p:sp>
      <p:sp>
        <p:nvSpPr>
          <p:cNvPr id="17" name="Text 15"/>
          <p:cNvSpPr/>
          <p:nvPr/>
        </p:nvSpPr>
        <p:spPr>
          <a:xfrm>
            <a:off x="1307592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Ricevere l'offerta di subentro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307592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si libera un posto, il candidato in attesa riceve una proposta di subentro.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E3.3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d'attesa e subentri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UE-39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Accettare o rifiutare l'offerta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candidato accetta o rifiuta entro la scadenza; il rifiuto non comporta penalità.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UE-40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Passare l'offerta al successivo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il primo candidato rifiuta o non risponde, il posto viene proposto al successivo.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E3.4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Priorità e penalità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UE-34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Bloccare temporaneamente le nuove prenotazioni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mensili e annuali, cancellazione tardiva o no-show bloccano nuove prenotazioni per 5 giorni.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UE-41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Dare priorità a chi rimane più volte in lista d'attesa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Dopo 3 esclusioni settimanali consecutive dallo stesso corso, si ottiene priorità per un’edizione.</a:t>
            </a:r>
            <a:endParaRPr lang="en-US" sz="106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prodotto, in 5 temi.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1EEE6"/>
          </a:solidFill>
          <a:ln w="19050">
            <a:solidFill>
              <a:srgbClr val="BA754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30936"/>
            <a:ext cx="10863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3320" dirty="0"/>
          </a:p>
        </p:txBody>
      </p:sp>
      <p:sp>
        <p:nvSpPr>
          <p:cNvPr id="3" name="Text 1"/>
          <p:cNvSpPr/>
          <p:nvPr/>
        </p:nvSpPr>
        <p:spPr>
          <a:xfrm>
            <a:off x="713232" y="13350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Epiche</a:t>
            </a:r>
            <a:endParaRPr lang="en-US" sz="1770" dirty="0"/>
          </a:p>
        </p:txBody>
      </p:sp>
      <p:sp>
        <p:nvSpPr>
          <p:cNvPr id="4" name="Shape 2">
            <a:hlinkClick r:id="rId3" action="ppaction://hlinksldjump" tooltip="Esplora le User Story di E4.1"/>
          </p:cNvPr>
          <p:cNvSpPr/>
          <p:nvPr/>
        </p:nvSpPr>
        <p:spPr>
          <a:xfrm>
            <a:off x="694944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5256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BA754E">
              <a:alpha val="14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78408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905256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accessi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905256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Controllare l’accesso e spiegare immediatamente il motivo di un rifiuto.</a:t>
            </a:r>
            <a:endParaRPr lang="en-US" sz="1210" dirty="0"/>
          </a:p>
        </p:txBody>
      </p:sp>
      <p:sp>
        <p:nvSpPr>
          <p:cNvPr id="9" name="Shape 7"/>
          <p:cNvSpPr/>
          <p:nvPr/>
        </p:nvSpPr>
        <p:spPr>
          <a:xfrm>
            <a:off x="905256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05256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certificato, piano, servizio e fascia devono essere validi.</a:t>
            </a:r>
            <a:endParaRPr lang="en-US" sz="1020" dirty="0"/>
          </a:p>
        </p:txBody>
      </p:sp>
      <p:sp>
        <p:nvSpPr>
          <p:cNvPr id="11" name="Shape 9">
            <a:hlinkClick r:id="rId3" action="ppaction://hlinksldjump" tooltip="Controllo accessi"/>
          </p:cNvPr>
          <p:cNvSpPr/>
          <p:nvPr/>
        </p:nvSpPr>
        <p:spPr>
          <a:xfrm>
            <a:off x="694944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hlinkClick r:id="rId3" action="ppaction://hlinksldjump" tooltip="Esplora le User Story di E4.2"/>
          </p:cNvPr>
          <p:cNvSpPr/>
          <p:nvPr/>
        </p:nvSpPr>
        <p:spPr>
          <a:xfrm>
            <a:off x="4373880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84192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BA754E">
              <a:alpha val="14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57344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84192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Uscite e presenze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4584192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uscite, presenze alle attività, assenze e posti occupati.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4584192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84192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del PO: registrare check-in e check-out distinti dalla presenza.</a:t>
            </a:r>
            <a:endParaRPr lang="en-US" sz="1020" dirty="0"/>
          </a:p>
        </p:txBody>
      </p:sp>
      <p:sp>
        <p:nvSpPr>
          <p:cNvPr id="19" name="Shape 17">
            <a:hlinkClick r:id="rId3" action="ppaction://hlinksldjump" tooltip="Uscite e presenze"/>
          </p:cNvPr>
          <p:cNvSpPr/>
          <p:nvPr/>
        </p:nvSpPr>
        <p:spPr>
          <a:xfrm>
            <a:off x="4373880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4" action="ppaction://hlinksldjump" tooltip="Esplora le User Story di E4.3"/>
          </p:cNvPr>
          <p:cNvSpPr/>
          <p:nvPr/>
        </p:nvSpPr>
        <p:spPr>
          <a:xfrm>
            <a:off x="8052816" y="182880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63128" y="198424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BA754E">
              <a:alpha val="14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36280" y="201625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E4.3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263128" y="231343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Istruttori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8263128" y="283464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Gestire disponibilità degli istruttori, titolari, supplenti e lezioni assegnate.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8263128" y="341985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63128" y="352044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ridurre i buchi e gestire disponibilità e assegnazioni.</a:t>
            </a:r>
            <a:endParaRPr lang="en-US" sz="1020" dirty="0"/>
          </a:p>
        </p:txBody>
      </p:sp>
      <p:sp>
        <p:nvSpPr>
          <p:cNvPr id="27" name="Shape 25">
            <a:hlinkClick r:id="rId4" action="ppaction://hlinksldjump" tooltip="Istruttori"/>
          </p:cNvPr>
          <p:cNvSpPr/>
          <p:nvPr/>
        </p:nvSpPr>
        <p:spPr>
          <a:xfrm>
            <a:off x="8052816" y="182880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>
            <a:hlinkClick r:id="rId4" action="ppaction://hlinksldjump" tooltip="Esplora le User Story di E4.4"/>
          </p:cNvPr>
          <p:cNvSpPr/>
          <p:nvPr/>
        </p:nvSpPr>
        <p:spPr>
          <a:xfrm>
            <a:off x="2534412" y="416052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2744724" y="431596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BA754E">
              <a:alpha val="14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817876" y="434797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E4.4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2744724" y="464515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Sostituzioni e annullamenti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2744724" y="516636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Organizzare sostituzioni, avvisi e annullamenti delle singole lezioni.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2744724" y="575157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744724" y="585216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assenze improvvise degli istruttori e corsi annullati.</a:t>
            </a:r>
            <a:endParaRPr lang="en-US" sz="1020" dirty="0"/>
          </a:p>
        </p:txBody>
      </p:sp>
      <p:sp>
        <p:nvSpPr>
          <p:cNvPr id="35" name="Shape 33">
            <a:hlinkClick r:id="rId4" action="ppaction://hlinksldjump" tooltip="Sostituzioni e annullamenti"/>
          </p:cNvPr>
          <p:cNvSpPr/>
          <p:nvPr/>
        </p:nvSpPr>
        <p:spPr>
          <a:xfrm>
            <a:off x="2534412" y="416052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>
            <a:hlinkClick r:id="rId4" action="ppaction://hlinksldjump" tooltip="Esplora le User Story di E4.5"/>
          </p:cNvPr>
          <p:cNvSpPr/>
          <p:nvPr/>
        </p:nvSpPr>
        <p:spPr>
          <a:xfrm>
            <a:off x="6213348" y="4160520"/>
            <a:ext cx="3441192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5"/>
          <p:cNvSpPr/>
          <p:nvPr/>
        </p:nvSpPr>
        <p:spPr>
          <a:xfrm>
            <a:off x="6423660" y="4315968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BA754E">
              <a:alpha val="14000"/>
            </a:srgbClr>
          </a:solidFill>
          <a:ln w="9525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496812" y="4347972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E4.5</a:t>
            </a:r>
            <a:endParaRPr lang="en-US" sz="1170" dirty="0"/>
          </a:p>
        </p:txBody>
      </p:sp>
      <p:sp>
        <p:nvSpPr>
          <p:cNvPr id="39" name="Text 37"/>
          <p:cNvSpPr/>
          <p:nvPr/>
        </p:nvSpPr>
        <p:spPr>
          <a:xfrm>
            <a:off x="6423660" y="4645152"/>
            <a:ext cx="3020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Notifiche</a:t>
            </a:r>
            <a:endParaRPr lang="en-US" sz="1520" dirty="0"/>
          </a:p>
        </p:txBody>
      </p:sp>
      <p:sp>
        <p:nvSpPr>
          <p:cNvPr id="40" name="Text 38"/>
          <p:cNvSpPr/>
          <p:nvPr/>
        </p:nvSpPr>
        <p:spPr>
          <a:xfrm>
            <a:off x="6423660" y="5166360"/>
            <a:ext cx="3020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Inviare notifiche nell’applicazione e, dove previsto, via e-mail.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6423660" y="5751576"/>
            <a:ext cx="3020568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423660" y="5852160"/>
            <a:ext cx="3020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avvisare gli iscritti se cambia istruttore o il corso salta.</a:t>
            </a:r>
            <a:endParaRPr lang="en-US" sz="1020" dirty="0"/>
          </a:p>
        </p:txBody>
      </p:sp>
      <p:sp>
        <p:nvSpPr>
          <p:cNvPr id="43" name="Shape 41">
            <a:hlinkClick r:id="rId4" action="ppaction://hlinksldjump" tooltip="Notifiche"/>
          </p:cNvPr>
          <p:cNvSpPr/>
          <p:nvPr/>
        </p:nvSpPr>
        <p:spPr>
          <a:xfrm>
            <a:off x="6213348" y="4160520"/>
            <a:ext cx="3441192" cy="21214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1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E4.1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accessi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UE-25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un ingresso in struttura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registra l’entrata verificando certificato, abbonamento e requisiti di accesso.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UE-26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il motivo del rifiuto ingresso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l’accesso è negato, la reception vede il motivo preciso da comunicare all’iscritto.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E4.2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Uscite e presenze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UE-27</a:t>
            </a:r>
            <a:endParaRPr lang="en-US" sz="1025" dirty="0"/>
          </a:p>
        </p:txBody>
      </p:sp>
      <p:sp>
        <p:nvSpPr>
          <p:cNvPr id="20" name="Text 18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un'uscita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registra l’uscita per aggiornare chi è ancora presente nella struttura.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UE-28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la presenza a una lezione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L’istruttore segna chi ha partecipato realmente alla singola lezione.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4358640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UE-29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la presenza in sala pesi o piscina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conferma l’uso della fascia prenotata in piscina o sala pesi.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E4.2</a:t>
            </a:r>
            <a:endParaRPr lang="en-US" sz="1190" dirty="0"/>
          </a:p>
        </p:txBody>
      </p:sp>
      <p:sp>
        <p:nvSpPr>
          <p:cNvPr id="32" name="Text 30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Uscite e presenze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UE-31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i presenti e i posti prenotati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reception distingue persone presenti nel centro e posti prenotati per ogni attività.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UE-32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Registrare le assenze alle attività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assenze vengono registrate alla fine dell’attività per individuare i no-show.</a:t>
            </a:r>
            <a:endParaRPr lang="en-US" sz="1060" dirty="0"/>
          </a:p>
        </p:txBody>
      </p:sp>
    </p:spTree>
  </p:cSld>
  <p:clrMapOvr>
    <a:masterClrMapping/>
  </p:clrMapOvr>
  <p:transition spd="med">
    <p:zoom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 · 2 / 2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E4.3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Istruttori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UE-14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Indicare la mia disponibilità settimanale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L’istruttore comunica giorni e fasce disponibili per organizzare il palinsesto.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391281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528441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UE-15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487293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Assegnare titolare e supplenti a un corso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3921633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ogni corso vengono associati un istruttore titolare e possibili supplenti.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4944" y="4441698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13816" y="457885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UE-44</a:t>
            </a:r>
            <a:endParaRPr lang="en-US" sz="1025" dirty="0"/>
          </a:p>
        </p:txBody>
      </p:sp>
      <p:sp>
        <p:nvSpPr>
          <p:cNvPr id="17" name="Text 15"/>
          <p:cNvSpPr/>
          <p:nvPr/>
        </p:nvSpPr>
        <p:spPr>
          <a:xfrm>
            <a:off x="1307592" y="453771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i miei corsi e i prenotati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307592" y="4972050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L’istruttore consulta i propri corsi e gli iscritti prenotati per preparare la lezione.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94944" y="5492115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13816" y="5629275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UE-45</a:t>
            </a:r>
            <a:endParaRPr lang="en-US" sz="1025" dirty="0"/>
          </a:p>
        </p:txBody>
      </p:sp>
      <p:sp>
        <p:nvSpPr>
          <p:cNvPr id="21" name="Text 19"/>
          <p:cNvSpPr/>
          <p:nvPr/>
        </p:nvSpPr>
        <p:spPr>
          <a:xfrm>
            <a:off x="1307592" y="5588127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Segnalare che non posso tenere una lezione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307592" y="6022467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titolare segnala la propria indisponibilità per consentire la ricerca di un sostituto.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E4.4</a:t>
            </a:r>
            <a:endParaRPr lang="en-US" sz="1190" dirty="0"/>
          </a:p>
        </p:txBody>
      </p:sp>
      <p:sp>
        <p:nvSpPr>
          <p:cNvPr id="25" name="Text 23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Sostituzioni e annullamenti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58640" y="2340864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UE-42</a:t>
            </a:r>
            <a:endParaRPr lang="en-US" sz="1025" dirty="0"/>
          </a:p>
        </p:txBody>
      </p:sp>
      <p:sp>
        <p:nvSpPr>
          <p:cNvPr id="28" name="Text 26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Annullare le lezioni sotto il numero minimo di iscritti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4971288" y="2871216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Un’ora prima della lezione, se non si raggiunge il minimo di iscritti, la lezione è annullata.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4358640" y="3391281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477512" y="3528441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UE-46</a:t>
            </a:r>
            <a:endParaRPr lang="en-US" sz="1025" dirty="0"/>
          </a:p>
        </p:txBody>
      </p:sp>
      <p:sp>
        <p:nvSpPr>
          <p:cNvPr id="32" name="Text 30"/>
          <p:cNvSpPr/>
          <p:nvPr/>
        </p:nvSpPr>
        <p:spPr>
          <a:xfrm>
            <a:off x="4971288" y="3487293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Proporre la sostituzione ai supplenti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4971288" y="3921633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supplenti ricevono la richiesta e possono accettare o rifiutare la sostituzione.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358640" y="4441698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477512" y="457885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UE-47</a:t>
            </a:r>
            <a:endParaRPr lang="en-US" sz="1025" dirty="0"/>
          </a:p>
        </p:txBody>
      </p:sp>
      <p:sp>
        <p:nvSpPr>
          <p:cNvPr id="36" name="Text 34"/>
          <p:cNvSpPr/>
          <p:nvPr/>
        </p:nvSpPr>
        <p:spPr>
          <a:xfrm>
            <a:off x="4971288" y="4537710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Annullare la lezione se nessun supplente accetta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4971288" y="4972050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nessun supplente accetta entro l’inizio, la singola lezione viene annullata.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4358640" y="5492115"/>
            <a:ext cx="3480816" cy="972693"/>
          </a:xfrm>
          <a:prstGeom prst="roundRect">
            <a:avLst>
              <a:gd name="adj" fmla="val 10341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477512" y="5629275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UE-48</a:t>
            </a:r>
            <a:endParaRPr lang="en-US" sz="1025" dirty="0"/>
          </a:p>
        </p:txBody>
      </p:sp>
      <p:sp>
        <p:nvSpPr>
          <p:cNvPr id="40" name="Text 38"/>
          <p:cNvSpPr/>
          <p:nvPr/>
        </p:nvSpPr>
        <p:spPr>
          <a:xfrm>
            <a:off x="4971288" y="5588127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Avvisare gli iscritti del cambio di istruttore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4971288" y="6022467"/>
            <a:ext cx="2740152" cy="35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iscritti prenotati vengono informati quando cambia l’istruttore della lezione.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E4.5</a:t>
            </a:r>
            <a:endParaRPr lang="en-US" sz="1190" dirty="0"/>
          </a:p>
        </p:txBody>
      </p:sp>
      <p:sp>
        <p:nvSpPr>
          <p:cNvPr id="44" name="Text 42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Notifiche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UE-38</a:t>
            </a:r>
            <a:endParaRPr lang="en-US" sz="1025" dirty="0"/>
          </a:p>
        </p:txBody>
      </p:sp>
      <p:sp>
        <p:nvSpPr>
          <p:cNvPr id="47" name="Text 45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le mie notifiche</a:t>
            </a:r>
            <a:endParaRPr lang="en-US" sz="1240" dirty="0"/>
          </a:p>
        </p:txBody>
      </p:sp>
      <p:sp>
        <p:nvSpPr>
          <p:cNvPr id="48" name="Text 46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utente vede nell’applicazione gli avvisi importanti per le proprie attività.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UE-49</a:t>
            </a:r>
            <a:endParaRPr lang="en-US" sz="1025" dirty="0"/>
          </a:p>
        </p:txBody>
      </p:sp>
      <p:sp>
        <p:nvSpPr>
          <p:cNvPr id="51" name="Text 49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Ricevere gli avvisi anche via e-mail</a:t>
            </a:r>
            <a:endParaRPr lang="en-US" sz="1240" dirty="0"/>
          </a:p>
        </p:txBody>
      </p:sp>
      <p:sp>
        <p:nvSpPr>
          <p:cNvPr id="52" name="Text 50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comunicazioni importanti possono arrivare anche via e-mail, oltre che nell’applicazione.</a:t>
            </a:r>
            <a:endParaRPr lang="en-US" sz="106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prodotto, in 5 temi.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DBE3DB"/>
          </a:solidFill>
          <a:ln w="12700">
            <a:solidFill>
              <a:srgbClr val="DBE3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1EEE6"/>
          </a:solidFill>
          <a:ln w="19050">
            <a:solidFill>
              <a:srgbClr val="8396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30936"/>
            <a:ext cx="10863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2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3320" dirty="0"/>
          </a:p>
        </p:txBody>
      </p:sp>
      <p:sp>
        <p:nvSpPr>
          <p:cNvPr id="3" name="Text 1"/>
          <p:cNvSpPr/>
          <p:nvPr/>
        </p:nvSpPr>
        <p:spPr>
          <a:xfrm>
            <a:off x="713232" y="13350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7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Epiche</a:t>
            </a:r>
            <a:endParaRPr lang="en-US" sz="1770" dirty="0"/>
          </a:p>
        </p:txBody>
      </p:sp>
      <p:sp>
        <p:nvSpPr>
          <p:cNvPr id="4" name="Shape 2">
            <a:hlinkClick r:id="rId3" action="ppaction://hlinksldjump" tooltip="Esplora le User Story di E5.1"/>
          </p:cNvPr>
          <p:cNvSpPr/>
          <p:nvPr/>
        </p:nvSpPr>
        <p:spPr>
          <a:xfrm>
            <a:off x="694944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05256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39658">
              <a:alpha val="14000"/>
            </a:srgbClr>
          </a:solidFill>
          <a:ln w="9525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78408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E5.1</a:t>
            </a:r>
            <a:endParaRPr lang="en-US" sz="1170" dirty="0"/>
          </a:p>
        </p:txBody>
      </p:sp>
      <p:sp>
        <p:nvSpPr>
          <p:cNvPr id="7" name="Text 5"/>
          <p:cNvSpPr/>
          <p:nvPr/>
        </p:nvSpPr>
        <p:spPr>
          <a:xfrm>
            <a:off x="905256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Affluenza e occupazione</a:t>
            </a:r>
            <a:endParaRPr lang="en-US" sz="1860" dirty="0"/>
          </a:p>
        </p:txBody>
      </p:sp>
      <p:sp>
        <p:nvSpPr>
          <p:cNvPr id="8" name="Text 6"/>
          <p:cNvSpPr/>
          <p:nvPr/>
        </p:nvSpPr>
        <p:spPr>
          <a:xfrm>
            <a:off x="905256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Analizzare ingressi per giorno e fascia e partecipazione ai corsi.</a:t>
            </a:r>
            <a:endParaRPr lang="en-US" sz="1410" dirty="0"/>
          </a:p>
        </p:txBody>
      </p:sp>
      <p:sp>
        <p:nvSpPr>
          <p:cNvPr id="9" name="Shape 7"/>
          <p:cNvSpPr/>
          <p:nvPr/>
        </p:nvSpPr>
        <p:spPr>
          <a:xfrm>
            <a:off x="905256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05256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sapere quando il centro è pieno o vuoto.</a:t>
            </a:r>
            <a:endParaRPr lang="en-US" sz="1180" dirty="0"/>
          </a:p>
        </p:txBody>
      </p:sp>
      <p:sp>
        <p:nvSpPr>
          <p:cNvPr id="11" name="Shape 9">
            <a:hlinkClick r:id="rId3" action="ppaction://hlinksldjump" tooltip="Affluenza e occupazione"/>
          </p:cNvPr>
          <p:cNvSpPr/>
          <p:nvPr/>
        </p:nvSpPr>
        <p:spPr>
          <a:xfrm>
            <a:off x="694944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>
            <a:hlinkClick r:id="rId3" action="ppaction://hlinksldjump" tooltip="Esplora le User Story di E5.2"/>
          </p:cNvPr>
          <p:cNvSpPr/>
          <p:nvPr/>
        </p:nvSpPr>
        <p:spPr>
          <a:xfrm>
            <a:off x="4376928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587240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39658">
              <a:alpha val="14000"/>
            </a:srgbClr>
          </a:solidFill>
          <a:ln w="9525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660392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E5.2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4587240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Incassi e abbonamenti</a:t>
            </a:r>
            <a:endParaRPr lang="en-US" sz="1860" dirty="0"/>
          </a:p>
        </p:txBody>
      </p:sp>
      <p:sp>
        <p:nvSpPr>
          <p:cNvPr id="16" name="Text 14"/>
          <p:cNvSpPr/>
          <p:nvPr/>
        </p:nvSpPr>
        <p:spPr>
          <a:xfrm>
            <a:off x="4587240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Monitorare incassi, rinnovi e andamento degli abbonamenti.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4587240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87240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Traccia P3: statistiche su abbonamenti e ricavi.</a:t>
            </a:r>
            <a:endParaRPr lang="en-US" sz="1180" dirty="0"/>
          </a:p>
        </p:txBody>
      </p:sp>
      <p:sp>
        <p:nvSpPr>
          <p:cNvPr id="19" name="Shape 17">
            <a:hlinkClick r:id="rId3" action="ppaction://hlinksldjump" tooltip="Incassi e abbonamenti"/>
          </p:cNvPr>
          <p:cNvSpPr/>
          <p:nvPr/>
        </p:nvSpPr>
        <p:spPr>
          <a:xfrm>
            <a:off x="4376928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3" action="ppaction://hlinksldjump" tooltip="Esplora le User Story di E5.3"/>
          </p:cNvPr>
          <p:cNvSpPr/>
          <p:nvPr/>
        </p:nvSpPr>
        <p:spPr>
          <a:xfrm>
            <a:off x="8058912" y="2066544"/>
            <a:ext cx="3435096" cy="3172968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 w="1397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269224" y="2221992"/>
            <a:ext cx="685800" cy="283464"/>
          </a:xfrm>
          <a:prstGeom prst="roundRect">
            <a:avLst>
              <a:gd name="adj" fmla="val 54839"/>
            </a:avLst>
          </a:prstGeom>
          <a:solidFill>
            <a:srgbClr val="839658">
              <a:alpha val="14000"/>
            </a:srgbClr>
          </a:solidFill>
          <a:ln w="9525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42376" y="2253996"/>
            <a:ext cx="539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E5.3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8269224" y="2670048"/>
            <a:ext cx="301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Storico corsi e chiusura</a:t>
            </a:r>
            <a:endParaRPr lang="en-US" sz="1860" dirty="0"/>
          </a:p>
        </p:txBody>
      </p:sp>
      <p:sp>
        <p:nvSpPr>
          <p:cNvPr id="24" name="Text 22"/>
          <p:cNvSpPr/>
          <p:nvPr/>
        </p:nvSpPr>
        <p:spPr>
          <a:xfrm>
            <a:off x="8269224" y="3547872"/>
            <a:ext cx="3014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10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Conservare lo storico, segnalare il 70% di annullamenti e gestire le chiusure.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8269224" y="4370832"/>
            <a:ext cx="3014472" cy="0"/>
          </a:xfrm>
          <a:prstGeom prst="line">
            <a:avLst/>
          </a:prstGeom>
          <a:noFill/>
          <a:ln w="1016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69224" y="4471416"/>
            <a:ext cx="301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i="1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del PO e scelta del team: 7 annullamenti su 10, solo avviso.</a:t>
            </a:r>
            <a:endParaRPr lang="en-US" sz="1180" dirty="0"/>
          </a:p>
        </p:txBody>
      </p:sp>
      <p:sp>
        <p:nvSpPr>
          <p:cNvPr id="27" name="Shape 25">
            <a:hlinkClick r:id="rId3" action="ppaction://hlinksldjump" tooltip="Storico corsi e chiusura"/>
          </p:cNvPr>
          <p:cNvSpPr/>
          <p:nvPr/>
        </p:nvSpPr>
        <p:spPr>
          <a:xfrm>
            <a:off x="8058912" y="2066544"/>
            <a:ext cx="3435096" cy="317296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21792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3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3230" dirty="0"/>
          </a:p>
        </p:txBody>
      </p:sp>
      <p:sp>
        <p:nvSpPr>
          <p:cNvPr id="3" name="Text 1"/>
          <p:cNvSpPr/>
          <p:nvPr/>
        </p:nvSpPr>
        <p:spPr>
          <a:xfrm>
            <a:off x="713232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Story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694944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32104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E5.1</a:t>
            </a:r>
            <a:endParaRPr lang="en-US" sz="1190" dirty="0"/>
          </a:p>
        </p:txBody>
      </p:sp>
      <p:sp>
        <p:nvSpPr>
          <p:cNvPr id="6" name="Text 4"/>
          <p:cNvSpPr/>
          <p:nvPr/>
        </p:nvSpPr>
        <p:spPr>
          <a:xfrm>
            <a:off x="1444752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Affluenza e occupazione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13816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UE-63</a:t>
            </a:r>
            <a:endParaRPr lang="en-US" sz="1025" dirty="0"/>
          </a:p>
        </p:txBody>
      </p:sp>
      <p:sp>
        <p:nvSpPr>
          <p:cNvPr id="9" name="Text 7"/>
          <p:cNvSpPr/>
          <p:nvPr/>
        </p:nvSpPr>
        <p:spPr>
          <a:xfrm>
            <a:off x="1307592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l'affluenza per fascia oraria e giorno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307592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gestore confronta gli ingressi per giorno e fascia per individuare i periodi più affollati.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4944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13816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UE-64</a:t>
            </a:r>
            <a:endParaRPr lang="en-US" sz="1025" dirty="0"/>
          </a:p>
        </p:txBody>
      </p:sp>
      <p:sp>
        <p:nvSpPr>
          <p:cNvPr id="13" name="Text 11"/>
          <p:cNvSpPr/>
          <p:nvPr/>
        </p:nvSpPr>
        <p:spPr>
          <a:xfrm>
            <a:off x="1307592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l'affluenza dei corsi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307592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gestore analizza la partecipazione effettiva ai corsi per capire quali funzionano meglio.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4358640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95800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E5.2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5108448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Incassi e abbonamenti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8640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477512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UE-65</a:t>
            </a:r>
            <a:endParaRPr lang="en-US" sz="1025" dirty="0"/>
          </a:p>
        </p:txBody>
      </p:sp>
      <p:sp>
        <p:nvSpPr>
          <p:cNvPr id="20" name="Text 18"/>
          <p:cNvSpPr/>
          <p:nvPr/>
        </p:nvSpPr>
        <p:spPr>
          <a:xfrm>
            <a:off x="4971288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gli incassi per periodo e tipo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4971288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incassi sono consultabili per periodo e per tipologia di abbonamento.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358640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477512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UE-66</a:t>
            </a:r>
            <a:endParaRPr lang="en-US" sz="1025" dirty="0"/>
          </a:p>
        </p:txBody>
      </p:sp>
      <p:sp>
        <p:nvSpPr>
          <p:cNvPr id="24" name="Text 22"/>
          <p:cNvSpPr/>
          <p:nvPr/>
        </p:nvSpPr>
        <p:spPr>
          <a:xfrm>
            <a:off x="4971288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Vedere l'andamento degli abbonamenti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971288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Nuovi acquisti, rinnovi e scadenze aiutano a comprendere l’andamento dei piani.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022336" y="1874520"/>
            <a:ext cx="3480816" cy="365760"/>
          </a:xfrm>
          <a:prstGeom prst="roundRect">
            <a:avLst>
              <a:gd name="adj" fmla="val 42500"/>
            </a:avLst>
          </a:prstGeom>
          <a:solidFill>
            <a:srgbClr val="EEF3ED"/>
          </a:solidFill>
          <a:ln w="1270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59496" y="1934870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E5.3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8772144" y="1918411"/>
            <a:ext cx="2575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Storico corsi e chiusura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22336" y="2340864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141208" y="247802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UE-62</a:t>
            </a:r>
            <a:endParaRPr lang="en-US" sz="1025" dirty="0"/>
          </a:p>
        </p:txBody>
      </p:sp>
      <p:sp>
        <p:nvSpPr>
          <p:cNvPr id="31" name="Text 29"/>
          <p:cNvSpPr/>
          <p:nvPr/>
        </p:nvSpPr>
        <p:spPr>
          <a:xfrm>
            <a:off x="8634984" y="2436876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Conservare lo storico delle lezioni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8634984" y="2871216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conserva lo storico delle lezioni svolte e annullate per analizzare l’andamento dei corsi.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022336" y="3616452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141208" y="375361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UE-67</a:t>
            </a:r>
            <a:endParaRPr lang="en-US" sz="1025" dirty="0"/>
          </a:p>
        </p:txBody>
      </p:sp>
      <p:sp>
        <p:nvSpPr>
          <p:cNvPr id="35" name="Text 33"/>
          <p:cNvSpPr/>
          <p:nvPr/>
        </p:nvSpPr>
        <p:spPr>
          <a:xfrm>
            <a:off x="8634984" y="3712464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Segnalare i corsi con troppi annullamenti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634984" y="4146804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almeno 7 lezioni annullate sulle ultime 10, il sistema avvisa il gestore senza chiudere il corso.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022336" y="4892040"/>
            <a:ext cx="3480816" cy="1197864"/>
          </a:xfrm>
          <a:prstGeom prst="roundRect">
            <a:avLst>
              <a:gd name="adj" fmla="val 8397"/>
            </a:avLst>
          </a:prstGeom>
          <a:solidFill>
            <a:srgbClr val="FFFFFF"/>
          </a:solidFill>
          <a:ln w="11176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141208" y="5029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5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UE-68</a:t>
            </a:r>
            <a:endParaRPr lang="en-US" sz="1025" dirty="0"/>
          </a:p>
        </p:txBody>
      </p:sp>
      <p:sp>
        <p:nvSpPr>
          <p:cNvPr id="39" name="Text 37"/>
          <p:cNvSpPr/>
          <p:nvPr/>
        </p:nvSpPr>
        <p:spPr>
          <a:xfrm>
            <a:off x="8634984" y="4988052"/>
            <a:ext cx="274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Interrompere un corso ricorrente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634984" y="5422392"/>
            <a:ext cx="27401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9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gestore interrompe un corso ricorrente, eliminando le date future ma conservando lo storico.</a:t>
            </a:r>
            <a:endParaRPr lang="en-US" sz="1060" dirty="0"/>
          </a:p>
        </p:txBody>
      </p:sp>
    </p:spTree>
  </p:cSld>
  <p:clrMapOvr>
    <a:masterClrMapping/>
  </p:clrMapOvr>
  <p:transition spd="med"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7955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5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Tutti i temi esplorati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439912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9025128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610344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0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10780776" y="1179576"/>
            <a:ext cx="429768" cy="77724"/>
          </a:xfrm>
          <a:prstGeom prst="roundRect">
            <a:avLst>
              <a:gd name="adj" fmla="val 58824"/>
            </a:avLst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>
            <a:hlinkClick r:id="rId3" action="ppaction://hlinksldjump" tooltip="Esplora T1: 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94944" y="1709928"/>
            <a:ext cx="55778" cy="566928"/>
          </a:xfrm>
          <a:prstGeom prst="rect">
            <a:avLst/>
          </a:prstGeom>
          <a:solidFill>
            <a:srgbClr val="388C72"/>
          </a:solidFill>
          <a:ln w="12700">
            <a:solidFill>
              <a:srgbClr val="388C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7876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618488" y="1733702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Anagrafica, accesso e conformità sanitaria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027664" y="1782166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3" name="Shape 11">
            <a:hlinkClick r:id="rId3" action="ppaction://hlinksldjump" tooltip="Anagrafica, accesso e conformità sanitaria"/>
          </p:cNvPr>
          <p:cNvSpPr/>
          <p:nvPr/>
        </p:nvSpPr>
        <p:spPr>
          <a:xfrm>
            <a:off x="685800" y="1618488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>
            <a:hlinkClick r:id="rId4" action="ppaction://hlinksldjump" tooltip="Esplora T2: 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94944" y="2606040"/>
            <a:ext cx="55778" cy="566928"/>
          </a:xfrm>
          <a:prstGeom prst="rect">
            <a:avLst/>
          </a:prstGeom>
          <a:solidFill>
            <a:srgbClr val="567F9E"/>
          </a:solidFill>
          <a:ln w="12700">
            <a:solidFill>
              <a:srgbClr val="567F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268376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567F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618488" y="2629814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Abbonamenti, crediti e pagamenti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027664" y="2678278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19" name="Shape 17">
            <a:hlinkClick r:id="rId4" action="ppaction://hlinksldjump" tooltip="Abbonamenti, crediti e pagamenti"/>
          </p:cNvPr>
          <p:cNvSpPr/>
          <p:nvPr/>
        </p:nvSpPr>
        <p:spPr>
          <a:xfrm>
            <a:off x="685800" y="2514600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>
            <a:hlinkClick r:id="rId5" action="ppaction://hlinksldjump" tooltip="Esplora T3: 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94944" y="3502152"/>
            <a:ext cx="55778" cy="566928"/>
          </a:xfrm>
          <a:prstGeom prst="rect">
            <a:avLst/>
          </a:prstGeom>
          <a:solidFill>
            <a:srgbClr val="8976A0"/>
          </a:solidFill>
          <a:ln w="12700">
            <a:solidFill>
              <a:srgbClr val="8976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96112" y="35798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97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618488" y="352592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Palinsesto, prenotazioni e liste d'attesa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1027664" y="3574390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25" name="Shape 23">
            <a:hlinkClick r:id="rId5" action="ppaction://hlinksldjump" tooltip="Palinsesto, prenotazioni e liste d'attesa"/>
          </p:cNvPr>
          <p:cNvSpPr/>
          <p:nvPr/>
        </p:nvSpPr>
        <p:spPr>
          <a:xfrm>
            <a:off x="685800" y="3410712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>
            <a:hlinkClick r:id="rId6" action="ppaction://hlinksldjump" tooltip="Esplora T4: 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694944" y="4398264"/>
            <a:ext cx="55778" cy="566928"/>
          </a:xfrm>
          <a:prstGeom prst="rect">
            <a:avLst/>
          </a:prstGeom>
          <a:solidFill>
            <a:srgbClr val="BA754E"/>
          </a:solidFill>
          <a:ln w="12700">
            <a:solidFill>
              <a:srgbClr val="BA75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96112" y="44759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BA7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618488" y="4422038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Operatività giornaliera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027664" y="4470502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31" name="Shape 29">
            <a:hlinkClick r:id="rId6" action="ppaction://hlinksldjump" tooltip="Operatività giornaliera"/>
          </p:cNvPr>
          <p:cNvSpPr/>
          <p:nvPr/>
        </p:nvSpPr>
        <p:spPr>
          <a:xfrm>
            <a:off x="685800" y="4306824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30">
            <a:hlinkClick r:id="rId7" action="ppaction://hlinksldjump" tooltip="Esplora T5: 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oundRect">
            <a:avLst>
              <a:gd name="adj" fmla="val 19512"/>
            </a:avLst>
          </a:prstGeom>
          <a:solidFill>
            <a:srgbClr val="EDF3ED"/>
          </a:solidFill>
          <a:ln w="7620">
            <a:solidFill>
              <a:srgbClr val="DBE3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694944" y="5294376"/>
            <a:ext cx="55778" cy="566928"/>
          </a:xfrm>
          <a:prstGeom prst="rect">
            <a:avLst/>
          </a:prstGeom>
          <a:solidFill>
            <a:srgbClr val="839658"/>
          </a:solidFill>
          <a:ln w="12700">
            <a:solidFill>
              <a:srgbClr val="83965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96112" y="53721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839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50" dirty="0"/>
          </a:p>
        </p:txBody>
      </p:sp>
      <p:sp>
        <p:nvSpPr>
          <p:cNvPr id="35" name="Text 33"/>
          <p:cNvSpPr/>
          <p:nvPr/>
        </p:nvSpPr>
        <p:spPr>
          <a:xfrm>
            <a:off x="1618488" y="5318150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43D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Monitoraggio e statistiche del gestore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1027664" y="5366614"/>
            <a:ext cx="2377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388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300" dirty="0"/>
          </a:p>
        </p:txBody>
      </p:sp>
      <p:sp>
        <p:nvSpPr>
          <p:cNvPr id="37" name="Shape 35">
            <a:hlinkClick r:id="rId7" action="ppaction://hlinksldjump" tooltip="Monitoraggio e statistiche del gestore"/>
          </p:cNvPr>
          <p:cNvSpPr/>
          <p:nvPr/>
        </p:nvSpPr>
        <p:spPr>
          <a:xfrm>
            <a:off x="685800" y="5202936"/>
            <a:ext cx="10835640" cy="749808"/>
          </a:xfrm>
          <a:prstGeom prst="rect">
            <a:avLst/>
          </a:prstGeom>
          <a:solidFill>
            <a:srgbClr val="F7F8F3">
              <a:alpha val="0"/>
            </a:srgbClr>
          </a:solidFill>
          <a:ln w="12700">
            <a:solidFill>
              <a:srgbClr val="F7F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2452</Words>
  <Application>Microsoft Office PowerPoint</Application>
  <PresentationFormat>Widescreen</PresentationFormat>
  <Paragraphs>490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Università degli Studi dell’Aquila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FitSlot | Esplorazione interattiva del Product Backlog</dc:title>
  <dc:subject>Prototipo PowerPoint interattivo: Theme, Epic, User Story</dc:subject>
  <dc:creator>FitSlot — Gruppo Lady! The Lemons!</dc:creator>
  <cp:lastModifiedBy>Matteo Tessari</cp:lastModifiedBy>
  <cp:revision>2</cp:revision>
  <dcterms:created xsi:type="dcterms:W3CDTF">2026-10-28T16:51:18Z</dcterms:created>
  <dcterms:modified xsi:type="dcterms:W3CDTF">2026-10-28T20:00:59Z</dcterms:modified>
</cp:coreProperties>
</file>